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10"/>
  </p:normalViewPr>
  <p:slideViewPr>
    <p:cSldViewPr snapToGrid="0" snapToObjects="1">
      <p:cViewPr>
        <p:scale>
          <a:sx n="93" d="100"/>
          <a:sy n="93" d="100"/>
        </p:scale>
        <p:origin x="77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29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5720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96012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46304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196596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06840" y="45720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6840" y="96012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06840" y="146304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006840" y="196596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0" y="45720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0" y="96012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0" y="146304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0" y="196596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12680" y="45720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12680" y="96012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12680" y="146304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12680" y="196596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0" y="45720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0" y="96012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0" y="146304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0" y="196596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18520" y="45720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018520" y="96012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018520" y="146304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018520" y="1965960"/>
            <a:ext cx="54864" cy="54864"/>
          </a:xfrm>
          <a:prstGeom prst="ellipse">
            <a:avLst/>
          </a:prstGeom>
          <a:solidFill>
            <a:srgbClr val="3FD9E0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1488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Cryptography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82296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Nature of Security — how information gets protected, and how classical ciphers do it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31750">
            <a:solidFill>
              <a:srgbClr val="3F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Pusalapati Chandu</a:t>
            </a: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No. 192372119</a:t>
            </a:r>
            <a:endParaRPr lang="en-US" sz="1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00D0E0-337C-14A4-09BB-B0A142E6BDEB}"/>
              </a:ext>
            </a:extLst>
          </p:cNvPr>
          <p:cNvSpPr txBox="1"/>
          <p:nvPr/>
        </p:nvSpPr>
        <p:spPr>
          <a:xfrm>
            <a:off x="3599935" y="512064"/>
            <a:ext cx="4143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CO1 AT3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98294" cy="3566160"/>
          </a:xfrm>
          <a:prstGeom prst="roundRect">
            <a:avLst>
              <a:gd name="adj" fmla="val 3854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267712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3232" y="2816352"/>
            <a:ext cx="156911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971800"/>
            <a:ext cx="15691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security</a:t>
            </a:r>
            <a:endParaRPr lang="en-US" sz="14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4069080"/>
            <a:ext cx="1569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Attacks, threats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28646" y="36576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02966" y="2103120"/>
            <a:ext cx="1898294" cy="3566160"/>
          </a:xfrm>
          <a:prstGeom prst="roundRect">
            <a:avLst>
              <a:gd name="adj" fmla="val 3854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7558" y="2267712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67558" y="2816352"/>
            <a:ext cx="156911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7558" y="2971800"/>
            <a:ext cx="15691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security</a:t>
            </a:r>
            <a:endParaRPr lang="en-US" sz="14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67558" y="4069080"/>
            <a:ext cx="1569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availability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82973" y="36576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57293" y="2103120"/>
            <a:ext cx="1898294" cy="3566160"/>
          </a:xfrm>
          <a:prstGeom prst="roundRect">
            <a:avLst>
              <a:gd name="adj" fmla="val 3854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1885" y="2267712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1885" y="2816352"/>
            <a:ext cx="156911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1885" y="2971800"/>
            <a:ext cx="15691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encryption</a:t>
            </a:r>
            <a:endParaRPr lang="en-US" sz="14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21885" y="4069080"/>
            <a:ext cx="1569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plaintext →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pipeline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37299" y="36576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11619" y="2103120"/>
            <a:ext cx="1898294" cy="3566160"/>
          </a:xfrm>
          <a:prstGeom prst="roundRect">
            <a:avLst>
              <a:gd name="adj" fmla="val 3854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6211" y="2267712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76211" y="2816352"/>
            <a:ext cx="156911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6211" y="2971800"/>
            <a:ext cx="15691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4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176211" y="4069080"/>
            <a:ext cx="1569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Caesar, mono-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alphabetic, Playfair,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Vigenère, Hill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91626" y="36576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65946" y="2103120"/>
            <a:ext cx="1898294" cy="3566160"/>
          </a:xfrm>
          <a:prstGeom prst="roundRect">
            <a:avLst>
              <a:gd name="adj" fmla="val 3854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30538" y="2267712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330538" y="2816352"/>
            <a:ext cx="156911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30538" y="2971800"/>
            <a:ext cx="15691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</a:t>
            </a:r>
            <a:endParaRPr lang="en-US" sz="14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steganography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330538" y="4069080"/>
            <a:ext cx="156911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Rearranging vs.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data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Attacks, threats &amp;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28016" cy="713232"/>
          </a:xfrm>
          <a:prstGeom prst="roundRect">
            <a:avLst>
              <a:gd name="adj" fmla="val 21429"/>
            </a:avLst>
          </a:prstGeom>
          <a:solidFill>
            <a:srgbClr val="3FD9E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4767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08960" y="194767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information from unauthorized access.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128016" cy="713232"/>
          </a:xfrm>
          <a:prstGeom prst="roundRect">
            <a:avLst>
              <a:gd name="adj" fmla="val 21429"/>
            </a:avLst>
          </a:prstGeom>
          <a:solidFill>
            <a:srgbClr val="F2B8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08960" y="2880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attempt to steal, modify or destroy data — e.g. hacking, malware.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128016" cy="713232"/>
          </a:xfrm>
          <a:prstGeom prst="roundRect">
            <a:avLst>
              <a:gd name="adj" fmla="val 21429"/>
            </a:avLst>
          </a:prstGeom>
          <a:solidFill>
            <a:srgbClr val="E8615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1304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08960" y="3813048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the potential to cause harm — hackers, viruses, natural disasters.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64024"/>
            <a:ext cx="128016" cy="713232"/>
          </a:xfrm>
          <a:prstGeom prst="roundRect">
            <a:avLst>
              <a:gd name="adj" fmla="val 21429"/>
            </a:avLst>
          </a:prstGeom>
          <a:solidFill>
            <a:srgbClr val="3FD9E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45736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108960" y="4745736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that a threat actually exploits a weakness.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0" y="1965960"/>
            <a:ext cx="2926080" cy="3794760"/>
          </a:xfrm>
          <a:prstGeom prst="roundRect">
            <a:avLst>
              <a:gd name="adj" fmla="val 3125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EQUATION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1540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1540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1540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15400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1540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15400" y="5029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only becomes a risk when a weakness exists for it to exploit.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goals: the CIA triad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46120" y="2331720"/>
            <a:ext cx="0" cy="2331720"/>
          </a:xfrm>
          <a:prstGeom prst="line">
            <a:avLst/>
          </a:prstGeom>
          <a:noFill/>
          <a:ln w="19050">
            <a:solidFill>
              <a:srgbClr val="2442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2331720"/>
            <a:ext cx="1280160" cy="2331720"/>
          </a:xfrm>
          <a:prstGeom prst="line">
            <a:avLst/>
          </a:prstGeom>
          <a:noFill/>
          <a:ln w="19050">
            <a:solidFill>
              <a:srgbClr val="2442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4663440"/>
            <a:ext cx="2560320" cy="0"/>
          </a:xfrm>
          <a:prstGeom prst="line">
            <a:avLst/>
          </a:prstGeom>
          <a:noFill/>
          <a:ln w="19050">
            <a:solidFill>
              <a:srgbClr val="2442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645920"/>
            <a:ext cx="1371600" cy="1371600"/>
          </a:xfrm>
          <a:prstGeom prst="ellipse">
            <a:avLst/>
          </a:prstGeom>
          <a:solidFill>
            <a:srgbClr val="0F274B"/>
          </a:solidFill>
          <a:ln w="31750">
            <a:solidFill>
              <a:srgbClr val="3F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075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11680" y="3108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access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3977640"/>
            <a:ext cx="1371600" cy="1371600"/>
          </a:xfrm>
          <a:prstGeom prst="ellipse">
            <a:avLst/>
          </a:prstGeom>
          <a:solidFill>
            <a:srgbClr val="0F274B"/>
          </a:solidFill>
          <a:ln w="3175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4407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can't be changed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permission.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3977640"/>
            <a:ext cx="1371600" cy="1371600"/>
          </a:xfrm>
          <a:prstGeom prst="ellipse">
            <a:avLst/>
          </a:prstGeom>
          <a:solidFill>
            <a:srgbClr val="0F274B"/>
          </a:solidFill>
          <a:ln w="31750">
            <a:solidFill>
              <a:srgbClr val="E86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407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5440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available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needed.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96596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194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PART OF THE PICTURE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752344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606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29535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user or system is who it claims to be.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3803904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400507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what an authenticated user is allowed to 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4855464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4709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505663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 sender from denying they sent a message.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32E853-7653-98A1-F7B4-36708FA37FAD}"/>
              </a:ext>
            </a:extLst>
          </p:cNvPr>
          <p:cNvCxnSpPr>
            <a:endCxn id="10" idx="0"/>
          </p:cNvCxnSpPr>
          <p:nvPr/>
        </p:nvCxnSpPr>
        <p:spPr>
          <a:xfrm flipH="1">
            <a:off x="1965960" y="2685535"/>
            <a:ext cx="685800" cy="1292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encryption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cipher in this deck is one version of the same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F274B"/>
          </a:solidFill>
          <a:ln w="25400">
            <a:solidFill>
              <a:srgbClr val="3F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readable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0" y="277063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35808" y="22860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F274B"/>
          </a:solidFill>
          <a:ln w="25400">
            <a:solidFill>
              <a:srgbClr val="F2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27248" y="2971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text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key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18888" y="277063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02936" y="22860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F274B"/>
          </a:solidFill>
          <a:ln w="25400">
            <a:solidFill>
              <a:srgbClr val="E86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94376" y="2971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Scrambled,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output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86016" y="277063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70064" y="22860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F274B"/>
          </a:solidFill>
          <a:ln w="2540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61504" y="2971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the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53144" y="277063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37192" y="22860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F274B"/>
          </a:solidFill>
          <a:ln w="25400">
            <a:solidFill>
              <a:srgbClr val="3F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28632" y="2971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message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88636" y="41605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25" name="Text 23"/>
          <p:cNvSpPr/>
          <p:nvPr/>
        </p:nvSpPr>
        <p:spPr>
          <a:xfrm>
            <a:off x="5088636" y="4160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KEY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27348" y="3657600"/>
            <a:ext cx="1618488" cy="502920"/>
          </a:xfrm>
          <a:prstGeom prst="line">
            <a:avLst/>
          </a:prstGeom>
          <a:noFill/>
          <a:ln w="12700">
            <a:solidFill>
              <a:srgbClr val="5B6B8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H="1">
            <a:off x="6986016" y="3657600"/>
            <a:ext cx="1275588" cy="594360"/>
          </a:xfrm>
          <a:prstGeom prst="line">
            <a:avLst/>
          </a:prstGeom>
          <a:noFill/>
          <a:ln w="12700">
            <a:solidFill>
              <a:srgbClr val="5B6B8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both ways = symmetric cipher — the model every classical cipher in this deck follows.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CIPHERS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 — shift every letter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of the plaintext is replaced by a letter a fixed number of positions further down the alphabet.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SHIFT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2608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+3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388620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8620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36776" y="2926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36776" y="292608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36776" y="35204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+3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36776" y="388620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1636776" y="388620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404872" y="2926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292608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04872" y="35204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+3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04872" y="388620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2404872" y="388620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172968" y="2926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292608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72968" y="35204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+3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72968" y="388620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/>
        </p:spPr>
      </p:sp>
      <p:sp>
        <p:nvSpPr>
          <p:cNvPr id="26" name="Text 24"/>
          <p:cNvSpPr/>
          <p:nvPr/>
        </p:nvSpPr>
        <p:spPr>
          <a:xfrm>
            <a:off x="3172968" y="388620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41064" y="2926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1064" y="292608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41064" y="35204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+3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41064" y="388620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/>
        </p:spPr>
      </p:sp>
      <p:sp>
        <p:nvSpPr>
          <p:cNvPr id="31" name="Text 29"/>
          <p:cNvSpPr/>
          <p:nvPr/>
        </p:nvSpPr>
        <p:spPr>
          <a:xfrm>
            <a:off x="3941064" y="388620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256032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4544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Ciphertext: KHOOR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2148840"/>
            <a:ext cx="5669280" cy="3566160"/>
          </a:xfrm>
          <a:prstGeom prst="roundRect">
            <a:avLst>
              <a:gd name="adj" fmla="val 2564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1729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C = (P + k) mod 26   ·   Decryption: P = (C − k) mod 26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17920" y="3794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17920" y="40873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 possible shifts — trivial to brute-force by hand.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17920" y="4709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17920" y="50017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frequency of the original language is fully preserved.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CIPHERS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Monoalphabetic cipher — one fixed mapping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simple shift, every letter is mapped to a different, arbitrarily chosen letter — but the mapping stays fixed for the whole message.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732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9456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7180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7180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904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4904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2628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0352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8076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8076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5800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3524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63524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41248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41248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18972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8972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18972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972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966960" y="2331720"/>
            <a:ext cx="731520" cy="50292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66960" y="2331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966960" y="2880360"/>
            <a:ext cx="731520" cy="50292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66960" y="2880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0" y="23317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→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0" y="28803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→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so on for the remaining 13 letters, each with its own random substitute.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41605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43251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26!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822960" y="48188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keys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4 × 10²⁶)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297680" y="41605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80560" y="43251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4480560" y="48188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—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keys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955280" y="41605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38160" y="43251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vs.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138160" y="48188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CIPHERS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cipher — encrypting letter pairs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5×5 key matrix from a keyword, then encrypts the plaintext two letters (a digraph) at a time — hiding single-letter frequency.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MATRIX — KEYWORD “MONARCHY”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621792" cy="621792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98448" y="2331720"/>
            <a:ext cx="621792" cy="621792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3317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56816" y="2331720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23317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15184" y="2331720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23317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73552" y="2331720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23317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900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98448" y="2990088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29900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56816" y="2990088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56816" y="29900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15184" y="2990088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29900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73552" y="2990088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9900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648456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484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98448" y="3648456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36484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956816" y="3648456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56816" y="36484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15184" y="3648456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5184" y="36484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I/J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73552" y="3648456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36484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306824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068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298448" y="4306824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98448" y="43068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956816" y="4306824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56816" y="43068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615184" y="4306824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5184" y="43068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273552" y="4306824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43068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0080" y="4965192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965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298448" y="4965192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98448" y="4965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956816" y="4965192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6816" y="4965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615184" y="4965192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15184" y="4965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273552" y="4965192"/>
            <a:ext cx="621792" cy="621792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4965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114800" y="1965960"/>
            <a:ext cx="7498080" cy="4023360"/>
          </a:xfrm>
          <a:prstGeom prst="roundRect">
            <a:avLst>
              <a:gd name="adj" fmla="val 2273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1945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RULES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389120" y="2679192"/>
            <a:ext cx="82296" cy="8229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59" name="Text 57"/>
          <p:cNvSpPr/>
          <p:nvPr/>
        </p:nvSpPr>
        <p:spPr>
          <a:xfrm>
            <a:off x="4617720" y="255117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 → shift each letter one place right (wrap around).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389120" y="3182112"/>
            <a:ext cx="82296" cy="8229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1" name="Text 59"/>
          <p:cNvSpPr/>
          <p:nvPr/>
        </p:nvSpPr>
        <p:spPr>
          <a:xfrm>
            <a:off x="4617720" y="305409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 → shift each letter one place down (wrap around).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4389120" y="3685032"/>
            <a:ext cx="82296" cy="8229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3" name="Text 61"/>
          <p:cNvSpPr/>
          <p:nvPr/>
        </p:nvSpPr>
        <p:spPr>
          <a:xfrm>
            <a:off x="4617720" y="355701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row &amp; column → swap to form a rectangle's other corners.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389120" y="4187952"/>
            <a:ext cx="82296" cy="8229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5" name="Text 63"/>
          <p:cNvSpPr/>
          <p:nvPr/>
        </p:nvSpPr>
        <p:spPr>
          <a:xfrm>
            <a:off x="4617720" y="405993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and J share a single cell to fit the 26 letters into 25 boxes.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389120" y="4709160"/>
            <a:ext cx="69494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4892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breaks single-letter frequency analysis, since each ciphertext letter depends on its neighbour too.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CIPHERS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Vigenère cipher — multiple alphabets, one keyword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 keyword under the plaintext; each letter is shifted by the alphabet position of the keyword letter above it — a different shift every time.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18488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8488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51176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83864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16552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49240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81928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14616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4616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47304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7304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79992" y="2468880"/>
            <a:ext cx="877824" cy="548640"/>
          </a:xfrm>
          <a:prstGeom prst="rect">
            <a:avLst/>
          </a:prstGeom>
          <a:solidFill>
            <a:srgbClr val="12325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9992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0" y="3154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(repeated)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618488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18488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551176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51176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483864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83864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416552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49240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81928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214616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14616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147304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47304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079992" y="3154680"/>
            <a:ext cx="877824" cy="548640"/>
          </a:xfrm>
          <a:prstGeom prst="rect">
            <a:avLst/>
          </a:prstGeom>
          <a:solidFill>
            <a:srgbClr val="F2B84B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79992" y="31546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5800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618488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18488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2551176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51176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483864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83864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4416552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5349240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49240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281928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81928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7214616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14616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8147304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47304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079992" y="3840480"/>
            <a:ext cx="877824" cy="548640"/>
          </a:xfrm>
          <a:prstGeom prst="rect">
            <a:avLst/>
          </a:prstGeom>
          <a:solidFill>
            <a:srgbClr val="3FD9E0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79992" y="38404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548640" y="4800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uses a different shift (K=10, E=4, Y=24...), so the same plaintext letter can encrypt to different ciphertext letters.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CIPHERS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cipher — encrypting with matrix math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plaintext letters into vectors and multiplies them by a key matrix (mod 26), so every output letter depends on several input letters at once.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MATRIX (K)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 3  3 ⎤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2  5 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977640" y="3108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468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278892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D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 = [7, 8]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7D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 7 ⎤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7D2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8 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31089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26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2286000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F2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468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0" y="278892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[45,54] mod 26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 19 ⎤ → 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19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2  ⎦ → 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95560" y="228600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0F274B"/>
          </a:solidFill>
          <a:ln w="19050">
            <a:solidFill>
              <a:srgbClr val="3F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5560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"TC"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ciphertext letter is a combination of multiple plaintext letters, Hill cipher hides letter-frequency patterns far better than simple substitution.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REARRANGING, NOT REPLACING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keep their identity but change position — the opposite approach from substitution.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803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0" y="28803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8803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3160" y="28803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8803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0" y="28803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8803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77640" y="28803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12325C"/>
          </a:solidFill>
          <a:ln w="12700">
            <a:solidFill>
              <a:srgbClr val="3F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8803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4472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reordered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37947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F2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7947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645920" y="37947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F2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37947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423160" y="37947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37947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0" y="37947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F2B84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7947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77640" y="3794760"/>
            <a:ext cx="704088" cy="502920"/>
          </a:xfrm>
          <a:prstGeom prst="roundRect">
            <a:avLst>
              <a:gd name="adj" fmla="val 9091"/>
            </a:avLst>
          </a:prstGeom>
          <a:solidFill>
            <a:srgbClr val="F2B84B"/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3794760"/>
            <a:ext cx="704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 →  LHOEL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19456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0F274B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95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apply, and becomes noticeably stronger when combined with substitution.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936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4069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frequency is completely unchanged — an attacker still sees the same letter distribution as the original language.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vs. encryption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0F274B"/>
          </a:solidFill>
          <a:ln w="25400">
            <a:solidFill>
              <a:srgbClr val="3F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Scrambles the message so it's unreadable — but its presence is obvious.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57200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062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secret is here, and you can't read it."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0F274B"/>
          </a:solidFill>
          <a:ln w="25400">
            <a:solidFill>
              <a:srgbClr val="F2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880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very existence of the message inside images, audio, video or text.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3977640"/>
            <a:ext cx="457200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2062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"There's nothing to see here at all."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21408"/>
            <a:ext cx="457200" cy="457200"/>
          </a:xfrm>
          <a:prstGeom prst="ellipse">
            <a:avLst/>
          </a:prstGeom>
          <a:solidFill>
            <a:srgbClr val="3FD9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057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cryptography secures communication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423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transforming readable plaintext into unreadable ciphertext through substitution or transposition.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3FD9E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291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goals give that protection direction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confidentiality, integrity and availability define what "secure" actually means.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3FD9E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adds a further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892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hiding the existence of a message altogether, rather than just its content.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1106</Words>
  <Application>Microsoft Office PowerPoint</Application>
  <PresentationFormat>Widescreen</PresentationFormat>
  <Paragraphs>324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PUSALAPATI CHANDU</cp:lastModifiedBy>
  <cp:revision>4</cp:revision>
  <dcterms:created xsi:type="dcterms:W3CDTF">2026-07-15T04:36:06Z</dcterms:created>
  <dcterms:modified xsi:type="dcterms:W3CDTF">2026-07-15T05:05:50Z</dcterms:modified>
</cp:coreProperties>
</file>